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69" r:id="rId4"/>
    <p:sldId id="258" r:id="rId5"/>
    <p:sldId id="260" r:id="rId6"/>
    <p:sldId id="268" r:id="rId7"/>
    <p:sldId id="272" r:id="rId8"/>
    <p:sldId id="271" r:id="rId9"/>
    <p:sldId id="270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–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170"/>
    <p:restoredTop sz="94747"/>
  </p:normalViewPr>
  <p:slideViewPr>
    <p:cSldViewPr snapToGrid="0">
      <p:cViewPr varScale="1">
        <p:scale>
          <a:sx n="221" d="100"/>
          <a:sy n="221" d="100"/>
        </p:scale>
        <p:origin x="392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0b07752ef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0b07752ef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159d52876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159d52876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15b602df4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15b602df4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matern/ha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hl7.org/fhir/datatypes.html#Identifier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HAML Working Group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2024-12-12T17:00:00+01:00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259300" y="518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Current HAML Spec (v 0.4.2)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259299" y="624575"/>
            <a:ext cx="4546931" cy="10155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>
                <a:hlinkClick r:id="rId3"/>
              </a:rPr>
              <a:t>https://github.com/bmatern/haml</a:t>
            </a:r>
            <a:r>
              <a:rPr lang="en-GB" dirty="0"/>
              <a:t>  </a:t>
            </a:r>
            <a:r>
              <a:rPr lang="en-GB" dirty="0">
                <a:highlight>
                  <a:srgbClr val="FFFF00"/>
                </a:highlight>
              </a:rPr>
              <a:t>(Latest)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lang="en-GB" dirty="0">
              <a:highlight>
                <a:srgbClr val="FFFF00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79927C-4434-E66F-17D6-F387C68DFD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88500" y="1021170"/>
            <a:ext cx="5560834" cy="407045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AA492-EBA3-8079-F37C-8F826B304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0CD4A5-7A7B-0485-AC4F-FFB8A456DA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L" dirty="0"/>
              <a:t>Where we left off</a:t>
            </a:r>
            <a:br>
              <a:rPr lang="en-NL" dirty="0"/>
            </a:br>
            <a:endParaRPr lang="en-NL" dirty="0"/>
          </a:p>
          <a:p>
            <a:r>
              <a:rPr lang="en-NL" dirty="0"/>
              <a:t>What has changed in the spec</a:t>
            </a:r>
            <a:br>
              <a:rPr lang="en-NL" dirty="0"/>
            </a:br>
            <a:endParaRPr lang="en-NL" dirty="0"/>
          </a:p>
          <a:p>
            <a:r>
              <a:rPr lang="en-NL" dirty="0"/>
              <a:t>Roadmap moving forward</a:t>
            </a:r>
          </a:p>
        </p:txBody>
      </p:sp>
    </p:spTree>
    <p:extLst>
      <p:ext uri="{BB962C8B-B14F-4D97-AF65-F5344CB8AC3E}">
        <p14:creationId xmlns:p14="http://schemas.microsoft.com/office/powerpoint/2010/main" val="2564641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737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still Missing from v0_4_1? </a:t>
            </a:r>
            <a:endParaRPr dirty="0"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>
            <a:off x="311699" y="646400"/>
            <a:ext cx="8754095" cy="44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200" dirty="0">
                <a:solidFill>
                  <a:schemeClr val="tx1"/>
                </a:solidFill>
              </a:rPr>
              <a:t>Several parameters from previous </a:t>
            </a:r>
            <a:r>
              <a:rPr lang="en" sz="1200" dirty="0" err="1">
                <a:solidFill>
                  <a:schemeClr val="tx1"/>
                </a:solidFill>
              </a:rPr>
              <a:t>haml</a:t>
            </a:r>
            <a:r>
              <a:rPr lang="en" sz="1200" dirty="0">
                <a:solidFill>
                  <a:schemeClr val="tx1"/>
                </a:solidFill>
              </a:rPr>
              <a:t> versions</a:t>
            </a:r>
          </a:p>
          <a:p>
            <a:pPr lvl="1" indent="-292100">
              <a:buSzPts val="1000"/>
              <a:buChar char="●"/>
            </a:pPr>
            <a:r>
              <a:rPr lang="en" sz="1200" dirty="0">
                <a:solidFill>
                  <a:schemeClr val="tx1"/>
                </a:solidFill>
              </a:rPr>
              <a:t>Order Number </a:t>
            </a:r>
          </a:p>
          <a:p>
            <a:pPr lvl="1" indent="-292100">
              <a:buSzPts val="1000"/>
              <a:buChar char="●"/>
            </a:pPr>
            <a:r>
              <a:rPr lang="en" sz="1200" dirty="0">
                <a:solidFill>
                  <a:schemeClr val="tx1"/>
                </a:solidFill>
              </a:rPr>
              <a:t>Test ID? For replicate tests on the same sample.</a:t>
            </a:r>
          </a:p>
          <a:p>
            <a:pPr lvl="1" indent="-292100">
              <a:buSzPts val="1000"/>
              <a:buChar char="●"/>
            </a:pPr>
            <a:r>
              <a:rPr lang="en" sz="1200" dirty="0">
                <a:solidFill>
                  <a:schemeClr val="tx1"/>
                </a:solidFill>
              </a:rPr>
              <a:t>Lot number / kits / Manufacturer etc.</a:t>
            </a:r>
          </a:p>
          <a:p>
            <a:pPr lvl="1" indent="-292100">
              <a:buSzPts val="1000"/>
              <a:buChar char="●"/>
            </a:pPr>
            <a:r>
              <a:rPr lang="en" sz="1200" dirty="0">
                <a:solidFill>
                  <a:schemeClr val="tx1"/>
                </a:solidFill>
              </a:rPr>
              <a:t>Software IDs Document/sample/reporting center. Test ID. </a:t>
            </a:r>
            <a:endParaRPr sz="1200" dirty="0">
              <a:solidFill>
                <a:schemeClr val="tx1"/>
              </a:solidFill>
            </a:endParaRPr>
          </a:p>
          <a:p>
            <a:pPr lvl="1" indent="-292100">
              <a:buSzPts val="1000"/>
              <a:buChar char="●"/>
            </a:pPr>
            <a:r>
              <a:rPr lang="en" sz="1200" dirty="0">
                <a:solidFill>
                  <a:schemeClr val="tx1"/>
                </a:solidFill>
              </a:rPr>
              <a:t>For </a:t>
            </a:r>
            <a:r>
              <a:rPr lang="en" sz="1200" dirty="0" err="1">
                <a:solidFill>
                  <a:schemeClr val="tx1"/>
                </a:solidFill>
              </a:rPr>
              <a:t>SampleID</a:t>
            </a:r>
            <a:r>
              <a:rPr lang="en" sz="1200" dirty="0">
                <a:solidFill>
                  <a:schemeClr val="tx1"/>
                </a:solidFill>
              </a:rPr>
              <a:t> and </a:t>
            </a:r>
            <a:r>
              <a:rPr lang="en" sz="1200" dirty="0" err="1">
                <a:solidFill>
                  <a:schemeClr val="tx1"/>
                </a:solidFill>
              </a:rPr>
              <a:t>TestID</a:t>
            </a:r>
            <a:r>
              <a:rPr lang="en" sz="1200" dirty="0">
                <a:solidFill>
                  <a:schemeClr val="tx1"/>
                </a:solidFill>
              </a:rPr>
              <a:t> - what is the namespace of who assigned the sample IDs</a:t>
            </a:r>
            <a:br>
              <a:rPr lang="en" sz="1200" dirty="0">
                <a:solidFill>
                  <a:schemeClr val="tx1"/>
                </a:solidFill>
              </a:rPr>
            </a:br>
            <a:r>
              <a:rPr lang="en" sz="1200" u="sng" dirty="0">
                <a:solidFill>
                  <a:srgbClr val="0097A7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https://hl7.org/fhir/datatypes.html#</a:t>
            </a:r>
            <a:r>
              <a:rPr lang="en" sz="1200" u="sng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Identifier</a:t>
            </a:r>
            <a:endParaRPr lang="en" sz="1200" u="sng" dirty="0">
              <a:solidFill>
                <a:schemeClr val="tx1"/>
              </a:solidFill>
            </a:endParaRPr>
          </a:p>
          <a:p>
            <a:pPr lvl="2" indent="-292100">
              <a:buSzPts val="1000"/>
              <a:buChar char="●"/>
            </a:pPr>
            <a:r>
              <a:rPr lang="en" sz="1200" dirty="0">
                <a:solidFill>
                  <a:schemeClr val="tx1"/>
                </a:solidFill>
              </a:rPr>
              <a:t>Define a nested definition for IDs. The parent IDs can “inherit” the generic ID definition ( inspired by FHIR)</a:t>
            </a:r>
            <a:br>
              <a:rPr lang="en" sz="1200" u="sng" dirty="0">
                <a:solidFill>
                  <a:schemeClr val="tx1"/>
                </a:solidFill>
              </a:rPr>
            </a:br>
            <a:endParaRPr sz="1200" dirty="0">
              <a:solidFill>
                <a:schemeClr val="tx1"/>
              </a:solidFill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200" dirty="0">
                <a:solidFill>
                  <a:schemeClr val="tx1"/>
                </a:solidFill>
              </a:rPr>
              <a:t>Other Assays besides Single Antigen Bead:</a:t>
            </a:r>
          </a:p>
          <a:p>
            <a:pPr lvl="1" indent="-292100">
              <a:buSzPts val="1000"/>
              <a:buChar char="●"/>
            </a:pPr>
            <a:r>
              <a:rPr lang="en" sz="1200" dirty="0">
                <a:solidFill>
                  <a:schemeClr val="tx1"/>
                </a:solidFill>
              </a:rPr>
              <a:t>CDC Panel (Cells)</a:t>
            </a:r>
            <a:endParaRPr sz="1200" dirty="0">
              <a:solidFill>
                <a:schemeClr val="tx1"/>
              </a:solidFill>
            </a:endParaRPr>
          </a:p>
          <a:p>
            <a:pPr lvl="1" indent="-292100">
              <a:buSzPts val="1000"/>
              <a:buChar char="●"/>
            </a:pPr>
            <a:r>
              <a:rPr lang="en" sz="1200" dirty="0">
                <a:solidFill>
                  <a:schemeClr val="tx1"/>
                </a:solidFill>
              </a:rPr>
              <a:t>Flow-Panel</a:t>
            </a:r>
            <a:endParaRPr sz="1200" dirty="0">
              <a:solidFill>
                <a:schemeClr val="tx1"/>
              </a:solidFill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200" dirty="0">
                <a:solidFill>
                  <a:schemeClr val="tx1"/>
                </a:solidFill>
              </a:rPr>
              <a:t>Clarity in Override Reasons – structure these</a:t>
            </a:r>
            <a:endParaRPr sz="1200" dirty="0">
              <a:solidFill>
                <a:schemeClr val="tx1"/>
              </a:solidFill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200" dirty="0">
                <a:solidFill>
                  <a:schemeClr val="tx1"/>
                </a:solidFill>
              </a:rPr>
              <a:t>Date Formats</a:t>
            </a:r>
            <a:endParaRPr sz="1200" dirty="0">
              <a:solidFill>
                <a:schemeClr val="tx1"/>
              </a:solidFill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200" dirty="0">
                <a:solidFill>
                  <a:schemeClr val="tx1"/>
                </a:solidFill>
              </a:rPr>
              <a:t>Formulas </a:t>
            </a:r>
            <a:endParaRPr sz="1200" dirty="0">
              <a:solidFill>
                <a:schemeClr val="tx1"/>
              </a:solidFill>
            </a:endParaRPr>
          </a:p>
          <a:p>
            <a:pPr marL="914400" lvl="1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200" dirty="0">
                <a:solidFill>
                  <a:schemeClr val="tx1"/>
                </a:solidFill>
              </a:rPr>
              <a:t>Standardize how co communicate how the adjusted </a:t>
            </a:r>
            <a:r>
              <a:rPr lang="en" sz="1200" dirty="0" err="1">
                <a:solidFill>
                  <a:schemeClr val="tx1"/>
                </a:solidFill>
              </a:rPr>
              <a:t>mfi</a:t>
            </a:r>
            <a:r>
              <a:rPr lang="en" sz="1200" dirty="0">
                <a:solidFill>
                  <a:schemeClr val="tx1"/>
                </a:solidFill>
              </a:rPr>
              <a:t> is calculated (free-form is best option so far)</a:t>
            </a:r>
            <a:endParaRPr sz="1200" dirty="0">
              <a:solidFill>
                <a:schemeClr val="tx1"/>
              </a:solidFill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200" dirty="0">
                <a:solidFill>
                  <a:schemeClr val="tx1"/>
                </a:solidFill>
              </a:rPr>
              <a:t>HL7 FHIR</a:t>
            </a:r>
            <a:endParaRPr sz="1200" dirty="0">
              <a:solidFill>
                <a:schemeClr val="tx1"/>
              </a:solidFill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200" dirty="0">
                <a:solidFill>
                  <a:schemeClr val="tx1"/>
                </a:solidFill>
              </a:rPr>
              <a:t>Can we flag a specificity/bead as “self” or “</a:t>
            </a:r>
            <a:r>
              <a:rPr lang="en" sz="1200" dirty="0" err="1">
                <a:solidFill>
                  <a:schemeClr val="tx1"/>
                </a:solidFill>
              </a:rPr>
              <a:t>nonself</a:t>
            </a:r>
            <a:r>
              <a:rPr lang="en" sz="1200" dirty="0">
                <a:solidFill>
                  <a:schemeClr val="tx1"/>
                </a:solidFill>
              </a:rPr>
              <a:t>”</a:t>
            </a:r>
            <a:endParaRPr sz="1200" dirty="0">
              <a:solidFill>
                <a:schemeClr val="tx1"/>
              </a:solidFill>
            </a:endParaRPr>
          </a:p>
          <a:p>
            <a:pPr marL="914400" lvl="1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200" dirty="0">
                <a:solidFill>
                  <a:schemeClr val="tx1"/>
                </a:solidFill>
              </a:rPr>
              <a:t>Annotation field / Exclusion mark</a:t>
            </a:r>
            <a:endParaRPr sz="1200" dirty="0">
              <a:solidFill>
                <a:schemeClr val="tx1"/>
              </a:solidFill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200" dirty="0">
                <a:solidFill>
                  <a:schemeClr val="tx1"/>
                </a:solidFill>
              </a:rPr>
              <a:t>Divider! This is a way that machines </a:t>
            </a:r>
            <a:r>
              <a:rPr lang="en" sz="1200" dirty="0" err="1">
                <a:solidFill>
                  <a:schemeClr val="tx1"/>
                </a:solidFill>
              </a:rPr>
              <a:t>sorta</a:t>
            </a:r>
            <a:r>
              <a:rPr lang="en" sz="1200" dirty="0">
                <a:solidFill>
                  <a:schemeClr val="tx1"/>
                </a:solidFill>
              </a:rPr>
              <a:t> self-calibrate so that different machines can be comparable</a:t>
            </a:r>
            <a:endParaRPr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146639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Goals from 2024.11.18 meeting: 	</a:t>
            </a:r>
            <a:endParaRPr dirty="0"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227479" y="586991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1000" dirty="0"/>
              <a:t>Fill in the v0_4_1 gaps,  for a v0_4_2 xml and </a:t>
            </a:r>
            <a:r>
              <a:rPr lang="en" sz="1000" dirty="0" err="1"/>
              <a:t>xsd</a:t>
            </a:r>
            <a:r>
              <a:rPr lang="en" sz="1000" dirty="0"/>
              <a:t> (Ben)</a:t>
            </a:r>
            <a:br>
              <a:rPr lang="en" sz="1000" dirty="0"/>
            </a:br>
            <a:endParaRPr lang="en" sz="1000" dirty="0"/>
          </a:p>
          <a:p>
            <a:r>
              <a:rPr lang="en" sz="1000" dirty="0"/>
              <a:t>Harden the Format, </a:t>
            </a:r>
            <a:r>
              <a:rPr lang="en-GB" sz="1000" dirty="0"/>
              <a:t>Strengthen the XSD</a:t>
            </a:r>
            <a:endParaRPr sz="1000" dirty="0"/>
          </a:p>
          <a:p>
            <a:pPr lvl="1"/>
            <a:r>
              <a:rPr lang="en" sz="1000" dirty="0"/>
              <a:t>Define what things are required, be precise about cardinality</a:t>
            </a:r>
          </a:p>
          <a:p>
            <a:pPr lvl="1"/>
            <a:r>
              <a:rPr lang="en" sz="1000" dirty="0"/>
              <a:t>More precision on data types &amp; Dates</a:t>
            </a:r>
          </a:p>
          <a:p>
            <a:pPr lvl="1"/>
            <a:r>
              <a:rPr lang="en" sz="1000" dirty="0"/>
              <a:t>Documentation &amp; Comments within the </a:t>
            </a:r>
            <a:r>
              <a:rPr lang="en" sz="1000" dirty="0" err="1"/>
              <a:t>xsd</a:t>
            </a:r>
            <a:br>
              <a:rPr lang="en" sz="1000" dirty="0"/>
            </a:br>
            <a:endParaRPr lang="en" sz="1000" dirty="0"/>
          </a:p>
          <a:p>
            <a:r>
              <a:rPr lang="en" sz="1000" dirty="0"/>
              <a:t>Define scope (add cell assays?)</a:t>
            </a:r>
          </a:p>
          <a:p>
            <a:endParaRPr lang="en" sz="1000" dirty="0"/>
          </a:p>
          <a:p>
            <a:r>
              <a:rPr lang="en" sz="1000" dirty="0" err="1"/>
              <a:t>PLString</a:t>
            </a:r>
            <a:r>
              <a:rPr lang="en" sz="1000" dirty="0"/>
              <a:t> – examples and detailed description (check </a:t>
            </a:r>
            <a:r>
              <a:rPr lang="en" sz="1000" dirty="0" err="1"/>
              <a:t>GLString</a:t>
            </a:r>
            <a:r>
              <a:rPr lang="en" sz="1000" dirty="0"/>
              <a:t> for inspiration)</a:t>
            </a:r>
            <a:endParaRPr sz="1000" dirty="0"/>
          </a:p>
          <a:p>
            <a:pPr lvl="1"/>
            <a:endParaRPr lang="en" sz="1000" dirty="0"/>
          </a:p>
          <a:p>
            <a:pPr marL="311150" indent="-171450"/>
            <a:r>
              <a:rPr lang="en" sz="1000" dirty="0"/>
              <a:t>    Write a implementation guide / healthcare guideline through FHIR</a:t>
            </a:r>
            <a:endParaRPr sz="1000" dirty="0"/>
          </a:p>
          <a:p>
            <a:pPr lvl="1"/>
            <a:r>
              <a:rPr lang="en" sz="1000" dirty="0"/>
              <a:t>Dig up Bob Milius’ work and define path to FHIR (David Wroe?)</a:t>
            </a:r>
            <a:br>
              <a:rPr lang="en" sz="1000" dirty="0"/>
            </a:br>
            <a:endParaRPr lang="en" sz="1000" dirty="0"/>
          </a:p>
          <a:p>
            <a:r>
              <a:rPr lang="en" sz="1000" dirty="0"/>
              <a:t>Real-world use-cases. (IHIW is biggest example so far)</a:t>
            </a:r>
          </a:p>
          <a:p>
            <a:pPr lvl="1"/>
            <a:r>
              <a:rPr lang="en" sz="1000" dirty="0"/>
              <a:t>Do you want to  use this spec in one of your routines or research projects?</a:t>
            </a:r>
          </a:p>
          <a:p>
            <a:pPr lvl="1"/>
            <a:r>
              <a:rPr lang="en" sz="1000" dirty="0"/>
              <a:t>What TOOLS are needed for public adoption?</a:t>
            </a:r>
          </a:p>
          <a:p>
            <a:pPr lvl="2"/>
            <a:r>
              <a:rPr lang="en" sz="1000" dirty="0"/>
              <a:t>Converters &amp; Validators</a:t>
            </a:r>
            <a:br>
              <a:rPr lang="en" sz="1000" dirty="0"/>
            </a:br>
            <a:endParaRPr lang="en" sz="1000" dirty="0"/>
          </a:p>
          <a:p>
            <a:r>
              <a:rPr lang="en" sz="1000" dirty="0"/>
              <a:t>Manuscripts</a:t>
            </a:r>
          </a:p>
          <a:p>
            <a:pPr lvl="1"/>
            <a:r>
              <a:rPr lang="en" sz="1000" dirty="0" err="1"/>
              <a:t>PLString</a:t>
            </a:r>
            <a:r>
              <a:rPr lang="en" sz="1000" dirty="0"/>
              <a:t> communication: Eric S.- nomenclature, minimal character sets ~+{}</a:t>
            </a:r>
          </a:p>
          <a:p>
            <a:pPr lvl="1"/>
            <a:r>
              <a:rPr lang="en" sz="1000" dirty="0"/>
              <a:t>Eventually - publish 1.0 spec with manuscript</a:t>
            </a:r>
          </a:p>
          <a:p>
            <a:pPr lvl="1"/>
            <a:r>
              <a:rPr lang="en" sz="1000" dirty="0"/>
              <a:t>MIRING (quality checklists)</a:t>
            </a:r>
            <a:br>
              <a:rPr lang="en" sz="1000" dirty="0"/>
            </a:br>
            <a:endParaRPr lang="en" sz="1000" dirty="0"/>
          </a:p>
          <a:p>
            <a:r>
              <a:rPr lang="en-GB" sz="1000" dirty="0"/>
              <a:t>Long term: Hackathon with antibody analysis vendors to tell them what to do and how to do it</a:t>
            </a:r>
            <a:endParaRPr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13F88-A85B-B474-B154-3C981FA7D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85" y="0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NL" dirty="0"/>
              <a:t>Meeting minutes/notes 2024.11.18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0CD711-0CC0-D5DA-06C7-CF1B0AC8A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8646" y="454288"/>
            <a:ext cx="8950309" cy="4689212"/>
          </a:xfrm>
        </p:spPr>
        <p:txBody>
          <a:bodyPr>
            <a:noAutofit/>
          </a:bodyPr>
          <a:lstStyle/>
          <a:p>
            <a:pPr marL="114300" indent="0">
              <a:buNone/>
            </a:pPr>
            <a:r>
              <a:rPr lang="en-GB" sz="500" dirty="0"/>
              <a:t>Order of operations:</a:t>
            </a:r>
          </a:p>
          <a:p>
            <a:pPr marL="114300" indent="0">
              <a:buNone/>
            </a:pPr>
            <a:r>
              <a:rPr lang="en-GB" sz="500" dirty="0"/>
              <a:t>	Vet with Users and manufacturers</a:t>
            </a:r>
          </a:p>
          <a:p>
            <a:pPr marL="114300" indent="0">
              <a:buNone/>
            </a:pPr>
            <a:r>
              <a:rPr lang="en-GB" sz="500" dirty="0"/>
              <a:t>	1.0 spec comes after that.</a:t>
            </a:r>
          </a:p>
          <a:p>
            <a:pPr marL="114300" indent="0">
              <a:buNone/>
            </a:pPr>
            <a:endParaRPr lang="en-GB" sz="500" dirty="0"/>
          </a:p>
          <a:p>
            <a:pPr marL="114300" indent="0">
              <a:buNone/>
            </a:pPr>
            <a:r>
              <a:rPr lang="en-GB" sz="500" dirty="0" err="1"/>
              <a:t>PLString</a:t>
            </a:r>
            <a:r>
              <a:rPr lang="en-GB" sz="500" dirty="0"/>
              <a:t> -</a:t>
            </a:r>
          </a:p>
          <a:p>
            <a:pPr marL="114300" indent="0">
              <a:buNone/>
            </a:pPr>
            <a:r>
              <a:rPr lang="en-GB" sz="500" dirty="0"/>
              <a:t>	define anchor residues in the Peptide String? Regular expression for peptides</a:t>
            </a:r>
          </a:p>
          <a:p>
            <a:pPr marL="114300" indent="0">
              <a:buNone/>
            </a:pPr>
            <a:r>
              <a:rPr lang="en-GB" sz="500" dirty="0"/>
              <a:t>	Serological specificity  within a </a:t>
            </a:r>
            <a:r>
              <a:rPr lang="en-GB" sz="500" dirty="0" err="1"/>
              <a:t>plstring</a:t>
            </a:r>
            <a:endParaRPr lang="en-GB" sz="500" dirty="0"/>
          </a:p>
          <a:p>
            <a:pPr marL="114300" indent="0">
              <a:buNone/>
            </a:pPr>
            <a:r>
              <a:rPr lang="en-GB" sz="500" dirty="0"/>
              <a:t>	What if we don’t know the peptide? Modifications and such?</a:t>
            </a:r>
          </a:p>
          <a:p>
            <a:pPr marL="114300" indent="0">
              <a:buNone/>
            </a:pPr>
            <a:r>
              <a:rPr lang="en-GB" sz="500" dirty="0"/>
              <a:t>		Extensions - “reserved characters” for future things</a:t>
            </a:r>
          </a:p>
          <a:p>
            <a:pPr marL="114300" indent="0">
              <a:buNone/>
            </a:pPr>
            <a:r>
              <a:rPr lang="en-GB" sz="500" dirty="0"/>
              <a:t>		For now: Focus on the easy cases. Beads and things.</a:t>
            </a:r>
          </a:p>
          <a:p>
            <a:pPr marL="114300" indent="0">
              <a:buNone/>
            </a:pPr>
            <a:r>
              <a:rPr lang="en-GB" sz="500" dirty="0"/>
              <a:t>	Modification to proposed nomenclature for peptides</a:t>
            </a:r>
          </a:p>
          <a:p>
            <a:pPr marL="114300" indent="0">
              <a:buNone/>
            </a:pPr>
            <a:r>
              <a:rPr lang="en-GB" sz="500" dirty="0"/>
              <a:t>		DQB1*05:01~{PEPTIDE}~DQA1*01:01</a:t>
            </a:r>
          </a:p>
          <a:p>
            <a:pPr marL="114300" indent="0">
              <a:buNone/>
            </a:pPr>
            <a:r>
              <a:rPr lang="en-GB" sz="500" dirty="0"/>
              <a:t>		DQB1*05:01~DQA1*01:01</a:t>
            </a:r>
          </a:p>
          <a:p>
            <a:pPr marL="114300" indent="0">
              <a:buNone/>
            </a:pPr>
            <a:r>
              <a:rPr lang="en-GB" sz="500" dirty="0"/>
              <a:t>		A*01:01~{PEP}</a:t>
            </a:r>
          </a:p>
          <a:p>
            <a:pPr marL="114300" indent="0">
              <a:buNone/>
            </a:pPr>
            <a:r>
              <a:rPr lang="en-GB" sz="500" dirty="0"/>
              <a:t>	Define example namespaces for epitopes/antigens/ambiguities</a:t>
            </a:r>
          </a:p>
          <a:p>
            <a:pPr marL="114300" indent="0">
              <a:buNone/>
            </a:pPr>
            <a:r>
              <a:rPr lang="en-GB" sz="500" dirty="0"/>
              <a:t>		DPB1 “</a:t>
            </a:r>
            <a:r>
              <a:rPr lang="en-GB" sz="500" dirty="0" err="1"/>
              <a:t>unnacceptable</a:t>
            </a:r>
            <a:r>
              <a:rPr lang="en-GB" sz="500" dirty="0"/>
              <a:t> epitopes” , </a:t>
            </a:r>
            <a:r>
              <a:rPr lang="en-GB" sz="500" dirty="0" err="1"/>
              <a:t>Eplets</a:t>
            </a:r>
            <a:r>
              <a:rPr lang="en-GB" sz="500" dirty="0"/>
              <a:t>, </a:t>
            </a:r>
            <a:r>
              <a:rPr lang="en-GB" sz="500" dirty="0" err="1"/>
              <a:t>Cregs</a:t>
            </a:r>
            <a:r>
              <a:rPr lang="en-GB" sz="500" dirty="0"/>
              <a:t>, PIRCHES, alleles, serology, DPB1, MAC Codes</a:t>
            </a:r>
          </a:p>
          <a:p>
            <a:pPr marL="114300" indent="0">
              <a:buNone/>
            </a:pPr>
            <a:r>
              <a:rPr lang="en-GB" sz="500" dirty="0"/>
              <a:t>		Show how to show which system is used (website or DOI)	</a:t>
            </a:r>
          </a:p>
          <a:p>
            <a:pPr marL="114300" indent="0">
              <a:buNone/>
            </a:pPr>
            <a:r>
              <a:rPr lang="en-GB" sz="500" dirty="0"/>
              <a:t>		“Serotype list string”,  “</a:t>
            </a:r>
            <a:r>
              <a:rPr lang="en-GB" sz="500" dirty="0" err="1"/>
              <a:t>Eplet</a:t>
            </a:r>
            <a:r>
              <a:rPr lang="en-GB" sz="500" dirty="0"/>
              <a:t> String”</a:t>
            </a:r>
          </a:p>
          <a:p>
            <a:pPr marL="114300" indent="0">
              <a:buNone/>
            </a:pPr>
            <a:endParaRPr lang="en-GB" sz="500" dirty="0"/>
          </a:p>
          <a:p>
            <a:pPr marL="114300" indent="0">
              <a:buNone/>
            </a:pPr>
            <a:r>
              <a:rPr lang="en-GB" sz="500" dirty="0"/>
              <a:t>Need to add a “Conclusion” which is a different idea than assay level interpretation</a:t>
            </a:r>
          </a:p>
          <a:p>
            <a:pPr marL="114300" indent="0">
              <a:buNone/>
            </a:pPr>
            <a:r>
              <a:rPr lang="en-GB" sz="500" dirty="0"/>
              <a:t>	the targeted </a:t>
            </a:r>
            <a:r>
              <a:rPr lang="en-GB" sz="500" dirty="0" err="1"/>
              <a:t>eplets</a:t>
            </a:r>
            <a:r>
              <a:rPr lang="en-GB" sz="500" dirty="0"/>
              <a:t> go into here</a:t>
            </a:r>
          </a:p>
          <a:p>
            <a:pPr marL="114300" indent="0">
              <a:buNone/>
            </a:pPr>
            <a:r>
              <a:rPr lang="en-GB" sz="500" dirty="0"/>
              <a:t>	Define </a:t>
            </a:r>
            <a:r>
              <a:rPr lang="en-GB" sz="500" dirty="0" err="1"/>
              <a:t>eplet</a:t>
            </a:r>
            <a:r>
              <a:rPr lang="en-GB" sz="500" dirty="0"/>
              <a:t> nomenclature.</a:t>
            </a:r>
          </a:p>
          <a:p>
            <a:pPr marL="114300" indent="0">
              <a:buNone/>
            </a:pPr>
            <a:endParaRPr lang="en-GB" sz="500" dirty="0"/>
          </a:p>
          <a:p>
            <a:pPr marL="114300" indent="0">
              <a:buNone/>
            </a:pPr>
            <a:r>
              <a:rPr lang="en-GB" sz="500" dirty="0"/>
              <a:t>What is the use/purpose of this </a:t>
            </a:r>
            <a:r>
              <a:rPr lang="en-GB" sz="500" dirty="0" err="1"/>
              <a:t>haml</a:t>
            </a:r>
            <a:r>
              <a:rPr lang="en-GB" sz="500" dirty="0"/>
              <a:t> document? SOT….SCT?  Platelets?</a:t>
            </a:r>
          </a:p>
          <a:p>
            <a:pPr marL="114300" indent="0">
              <a:buNone/>
            </a:pPr>
            <a:r>
              <a:rPr lang="en-GB" sz="500" dirty="0"/>
              <a:t>	Different interpretations for different contexts? Is this in the context of a patient/donor pair?</a:t>
            </a:r>
          </a:p>
          <a:p>
            <a:pPr marL="114300" indent="0">
              <a:buNone/>
            </a:pPr>
            <a:r>
              <a:rPr lang="en-GB" sz="500" dirty="0"/>
              <a:t>	Allow generic reporting, and in interpretation 	</a:t>
            </a:r>
          </a:p>
          <a:p>
            <a:pPr marL="114300" indent="0">
              <a:buNone/>
            </a:pPr>
            <a:r>
              <a:rPr lang="en-GB" sz="500" dirty="0"/>
              <a:t>	Specify what the report is intended for. Is this meant for SOT or is it meant for “Research” or SCT etc.</a:t>
            </a:r>
          </a:p>
          <a:p>
            <a:pPr marL="114300" indent="0">
              <a:buNone/>
            </a:pPr>
            <a:r>
              <a:rPr lang="en-GB" sz="500" dirty="0"/>
              <a:t>	</a:t>
            </a:r>
          </a:p>
          <a:p>
            <a:pPr marL="114300" indent="0">
              <a:buNone/>
            </a:pPr>
            <a:r>
              <a:rPr lang="en-GB" sz="500" dirty="0"/>
              <a:t>“Interpretation” should be flexible and handle MULTIPLE interpretation blocks:	</a:t>
            </a:r>
          </a:p>
          <a:p>
            <a:pPr marL="114300" indent="0">
              <a:buNone/>
            </a:pPr>
            <a:r>
              <a:rPr lang="en-GB" sz="500" dirty="0"/>
              <a:t>	“Assay interpretation” - </a:t>
            </a:r>
          </a:p>
          <a:p>
            <a:pPr marL="114300" indent="0">
              <a:buNone/>
            </a:pPr>
            <a:r>
              <a:rPr lang="en-GB" sz="500" dirty="0"/>
              <a:t>	“Clinical Interpretation”</a:t>
            </a:r>
          </a:p>
          <a:p>
            <a:pPr marL="114300" indent="0">
              <a:buNone/>
            </a:pPr>
            <a:r>
              <a:rPr lang="en-GB" sz="500" dirty="0"/>
              <a:t>		Could include a field of use in here</a:t>
            </a:r>
          </a:p>
          <a:p>
            <a:pPr marL="114300" indent="0">
              <a:buNone/>
            </a:pPr>
            <a:r>
              <a:rPr lang="en-GB" sz="500" dirty="0"/>
              <a:t>		In the context of transfusion we have these </a:t>
            </a:r>
            <a:r>
              <a:rPr lang="en-GB" sz="500" dirty="0" err="1"/>
              <a:t>unnacceptables</a:t>
            </a:r>
            <a:r>
              <a:rPr lang="en-GB" sz="500" dirty="0"/>
              <a:t>…</a:t>
            </a:r>
          </a:p>
          <a:p>
            <a:pPr marL="114300" indent="0">
              <a:buNone/>
            </a:pPr>
            <a:endParaRPr lang="en-GB" sz="500" dirty="0"/>
          </a:p>
          <a:p>
            <a:pPr marL="114300" indent="0">
              <a:buNone/>
            </a:pPr>
            <a:r>
              <a:rPr lang="en-GB" sz="500" dirty="0"/>
              <a:t>Serum ID for positive and negative controls - these are in the csv export I think but no place in HAML</a:t>
            </a:r>
          </a:p>
          <a:p>
            <a:pPr marL="114300" indent="0">
              <a:buNone/>
            </a:pPr>
            <a:endParaRPr lang="en-GB" sz="500" dirty="0"/>
          </a:p>
          <a:p>
            <a:pPr marL="114300" indent="0">
              <a:buNone/>
            </a:pPr>
            <a:r>
              <a:rPr lang="en-GB" sz="500" dirty="0"/>
              <a:t>Next Steps</a:t>
            </a:r>
          </a:p>
          <a:p>
            <a:pPr marL="114300" indent="0">
              <a:buNone/>
            </a:pPr>
            <a:r>
              <a:rPr lang="en-GB" sz="500" dirty="0"/>
              <a:t>	Martin - Collaborations &amp; Datasets? set up a message creation and such with some collabs he has in mind</a:t>
            </a:r>
          </a:p>
          <a:p>
            <a:pPr marL="114300" indent="0">
              <a:buNone/>
            </a:pPr>
            <a:r>
              <a:rPr lang="en-GB" sz="500" dirty="0"/>
              <a:t>	Loren and Nick csv of antibody exports from one lambda</a:t>
            </a:r>
          </a:p>
          <a:p>
            <a:pPr marL="114300" indent="0">
              <a:buNone/>
            </a:pPr>
            <a:r>
              <a:rPr lang="en-GB" sz="500" dirty="0"/>
              <a:t>	Eventually re-convert IHIW stuff</a:t>
            </a:r>
          </a:p>
          <a:p>
            <a:pPr marL="114300" indent="0">
              <a:buNone/>
            </a:pPr>
            <a:endParaRPr lang="en-GB" sz="500" dirty="0"/>
          </a:p>
          <a:p>
            <a:pPr marL="114300" indent="0">
              <a:buNone/>
            </a:pPr>
            <a:r>
              <a:rPr lang="en-GB" sz="500" dirty="0"/>
              <a:t>1-2 meetings in 2025 before </a:t>
            </a:r>
            <a:r>
              <a:rPr lang="en-GB" sz="500" dirty="0" err="1"/>
              <a:t>prague</a:t>
            </a:r>
            <a:endParaRPr lang="en-GB" sz="500" dirty="0"/>
          </a:p>
          <a:p>
            <a:pPr marL="114300" indent="0">
              <a:buNone/>
            </a:pPr>
            <a:r>
              <a:rPr lang="en-GB" sz="500" dirty="0"/>
              <a:t>Next meeting right before </a:t>
            </a:r>
            <a:r>
              <a:rPr lang="en-GB" sz="500" dirty="0" err="1"/>
              <a:t>xmas</a:t>
            </a:r>
            <a:r>
              <a:rPr lang="en-GB" sz="500" dirty="0"/>
              <a:t>.</a:t>
            </a:r>
          </a:p>
          <a:p>
            <a:pPr marL="114300" indent="0">
              <a:buNone/>
            </a:pPr>
            <a:r>
              <a:rPr lang="en-GB" sz="500" dirty="0"/>
              <a:t>	Dec 9th or 16th same time? </a:t>
            </a:r>
          </a:p>
          <a:p>
            <a:pPr marL="114300" indent="0">
              <a:buNone/>
            </a:pPr>
            <a:r>
              <a:rPr lang="en-GB" sz="500" dirty="0"/>
              <a:t>	Doodle poll is out https://</a:t>
            </a:r>
            <a:r>
              <a:rPr lang="en-GB" sz="500" dirty="0" err="1"/>
              <a:t>doodle.com</a:t>
            </a:r>
            <a:r>
              <a:rPr lang="en-GB" sz="500" dirty="0"/>
              <a:t>/meeting/organize/id/</a:t>
            </a:r>
            <a:r>
              <a:rPr lang="en-GB" sz="500" dirty="0" err="1"/>
              <a:t>eEGDQXmb</a:t>
            </a:r>
            <a:endParaRPr lang="en-GB" sz="500" dirty="0"/>
          </a:p>
          <a:p>
            <a:pPr marL="114300" indent="0">
              <a:buNone/>
            </a:pPr>
            <a:endParaRPr lang="en-NL" sz="500" dirty="0"/>
          </a:p>
        </p:txBody>
      </p:sp>
    </p:spTree>
    <p:extLst>
      <p:ext uri="{BB962C8B-B14F-4D97-AF65-F5344CB8AC3E}">
        <p14:creationId xmlns:p14="http://schemas.microsoft.com/office/powerpoint/2010/main" val="1916555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483A42-6A89-F96D-3841-CD18F1DA2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L" dirty="0"/>
              <a:t>What has changed since last meeting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96D0E5-D28A-D686-15DD-50E72DF64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  <a:latin typeface="Helvetica Neue" panose="02000503000000020004" pitchFamily="2" charset="0"/>
              </a:rPr>
              <a:t>Script to automatically validate a xml against a schema (</a:t>
            </a:r>
            <a:r>
              <a:rPr lang="en-GB" dirty="0" err="1">
                <a:effectLst/>
                <a:latin typeface="Helvetica Neue" panose="02000503000000020004" pitchFamily="2" charset="0"/>
              </a:rPr>
              <a:t>XmlValidation.py</a:t>
            </a:r>
            <a:r>
              <a:rPr lang="en-GB" dirty="0">
                <a:effectLst/>
                <a:latin typeface="Helvetica Neue" panose="02000503000000020004" pitchFamily="2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endParaRPr lang="en-GB" dirty="0">
              <a:latin typeface="Helvetica Neue" panose="0200050300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  <a:latin typeface="Helvetica Neue" panose="02000503000000020004" pitchFamily="2" charset="0"/>
              </a:rPr>
              <a:t>Added a version tag to the HAML spec</a:t>
            </a:r>
            <a:br>
              <a:rPr lang="en-GB" dirty="0">
                <a:effectLst/>
                <a:latin typeface="Helvetica Neue" panose="02000503000000020004" pitchFamily="2" charset="0"/>
              </a:rPr>
            </a:br>
            <a:endParaRPr lang="en-GB" dirty="0">
              <a:effectLst/>
              <a:latin typeface="Helvetica Neue" panose="0200050300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  <a:latin typeface="Helvetica Neue" panose="02000503000000020004" pitchFamily="2" charset="0"/>
              </a:rPr>
              <a:t>Rename “results” back to “solid-phase-panel”?</a:t>
            </a:r>
            <a:br>
              <a:rPr lang="en-GB" dirty="0">
                <a:effectLst/>
                <a:latin typeface="Helvetica Neue" panose="02000503000000020004" pitchFamily="2" charset="0"/>
              </a:rPr>
            </a:br>
            <a:endParaRPr lang="en-GB" dirty="0">
              <a:effectLst/>
              <a:latin typeface="Helvetica Neue" panose="0200050300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  <a:latin typeface="Helvetica Neue" panose="02000503000000020004" pitchFamily="2" charset="0"/>
              </a:rPr>
              <a:t>added several parameters to solid-phase-panel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effectLst/>
                <a:latin typeface="Helvetica Neue" panose="02000503000000020004" pitchFamily="2" charset="0"/>
              </a:rPr>
              <a:t>&lt;lot-number&gt;12345&lt;/lot-number&gt;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effectLst/>
                <a:latin typeface="Helvetica Neue" panose="02000503000000020004" pitchFamily="2" charset="0"/>
              </a:rPr>
              <a:t>&lt;kit-manufacturer&gt;</a:t>
            </a:r>
            <a:r>
              <a:rPr lang="en-GB" dirty="0" err="1">
                <a:effectLst/>
                <a:latin typeface="Helvetica Neue" panose="02000503000000020004" pitchFamily="2" charset="0"/>
              </a:rPr>
              <a:t>One_Lambda</a:t>
            </a:r>
            <a:r>
              <a:rPr lang="en-GB" dirty="0">
                <a:effectLst/>
                <a:latin typeface="Helvetica Neue" panose="02000503000000020004" pitchFamily="2" charset="0"/>
              </a:rPr>
              <a:t>&lt;/kit-manufacturer&gt;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effectLst/>
                <a:latin typeface="Helvetica Neue" panose="02000503000000020004" pitchFamily="2" charset="0"/>
              </a:rPr>
              <a:t>&lt;kit-version&gt;LS1A04&lt;/kit-version&gt;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effectLst/>
                <a:latin typeface="Helvetica Neue" panose="02000503000000020004" pitchFamily="2" charset="0"/>
              </a:rPr>
              <a:t>&lt;interpretation-software&gt;</a:t>
            </a:r>
            <a:r>
              <a:rPr lang="en-GB" dirty="0" err="1">
                <a:effectLst/>
                <a:latin typeface="Helvetica Neue" panose="02000503000000020004" pitchFamily="2" charset="0"/>
              </a:rPr>
              <a:t>HLA_Fusion</a:t>
            </a:r>
            <a:r>
              <a:rPr lang="en-GB" dirty="0">
                <a:effectLst/>
                <a:latin typeface="Helvetica Neue" panose="02000503000000020004" pitchFamily="2" charset="0"/>
              </a:rPr>
              <a:t>&lt;/interpretation-software&gt;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>
                <a:effectLst/>
                <a:latin typeface="Helvetica Neue" panose="02000503000000020004" pitchFamily="2" charset="0"/>
              </a:rPr>
              <a:t>&lt;interpretation-software-version&gt;4.1&lt;/interpretation-software-version&gt;</a:t>
            </a:r>
            <a:br>
              <a:rPr lang="en-GB" dirty="0">
                <a:effectLst/>
                <a:latin typeface="Helvetica Neue" panose="02000503000000020004" pitchFamily="2" charset="0"/>
              </a:rPr>
            </a:br>
            <a:endParaRPr lang="en-GB" dirty="0">
              <a:effectLst/>
              <a:latin typeface="Helvetica Neue" panose="0200050300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  <a:latin typeface="Helvetica Neue" panose="02000503000000020004" pitchFamily="2" charset="0"/>
              </a:rPr>
              <a:t>bead-classification, added a restriction: Positive/Negative/Borderline/Undetermined</a:t>
            </a:r>
            <a:br>
              <a:rPr lang="en-GB" dirty="0">
                <a:effectLst/>
                <a:latin typeface="Helvetica Neue" panose="02000503000000020004" pitchFamily="2" charset="0"/>
              </a:rPr>
            </a:br>
            <a:endParaRPr lang="en-GB" dirty="0">
              <a:effectLst/>
              <a:latin typeface="Helvetica Neue" panose="0200050300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  <a:latin typeface="Helvetica Neue" panose="02000503000000020004" pitchFamily="2" charset="0"/>
              </a:rPr>
              <a:t>&lt;patient-id&gt; and </a:t>
            </a:r>
            <a:r>
              <a:rPr lang="en-GB" dirty="0">
                <a:latin typeface="Helvetica Neue" panose="02000503000000020004" pitchFamily="2" charset="0"/>
              </a:rPr>
              <a:t>&lt;</a:t>
            </a:r>
            <a:r>
              <a:rPr lang="en-GB" dirty="0">
                <a:effectLst/>
                <a:latin typeface="Helvetica Neue" panose="02000503000000020004" pitchFamily="2" charset="0"/>
              </a:rPr>
              <a:t>sample-id&gt;</a:t>
            </a:r>
            <a:br>
              <a:rPr lang="en-GB" dirty="0">
                <a:effectLst/>
                <a:latin typeface="Helvetica Neue" panose="02000503000000020004" pitchFamily="2" charset="0"/>
              </a:rPr>
            </a:br>
            <a:endParaRPr lang="en-GB" dirty="0">
              <a:effectLst/>
              <a:latin typeface="Helvetica Neue" panose="0200050300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latin typeface="Helvetica Neue" panose="02000503000000020004" pitchFamily="2" charset="0"/>
              </a:rPr>
              <a:t>&lt;r</a:t>
            </a:r>
            <a:r>
              <a:rPr lang="en-GB" dirty="0">
                <a:effectLst/>
                <a:latin typeface="Helvetica Neue" panose="02000503000000020004" pitchFamily="2" charset="0"/>
              </a:rPr>
              <a:t>eporting-</a:t>
            </a:r>
            <a:r>
              <a:rPr lang="en-GB" dirty="0" err="1">
                <a:effectLst/>
                <a:latin typeface="Helvetica Neue" panose="02000503000000020004" pitchFamily="2" charset="0"/>
              </a:rPr>
              <a:t>center</a:t>
            </a:r>
            <a:r>
              <a:rPr lang="en-GB" dirty="0">
                <a:effectLst/>
                <a:latin typeface="Helvetica Neue" panose="02000503000000020004" pitchFamily="2" charset="0"/>
              </a:rPr>
              <a:t>&gt;</a:t>
            </a:r>
            <a:br>
              <a:rPr lang="en-GB" dirty="0">
                <a:effectLst/>
                <a:latin typeface="Helvetica Neue" panose="02000503000000020004" pitchFamily="2" charset="0"/>
              </a:rPr>
            </a:br>
            <a:endParaRPr lang="en-GB" dirty="0">
              <a:effectLst/>
              <a:latin typeface="Helvetica Neue" panose="02000503000000020004" pitchFamily="2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dirty="0">
                <a:effectLst/>
                <a:latin typeface="Helvetica Neue" panose="02000503000000020004" pitchFamily="2" charset="0"/>
              </a:rPr>
              <a:t>question: Bead classification - was this assigned by a human or algorithm?</a:t>
            </a:r>
            <a:br>
              <a:rPr lang="en-GB" dirty="0">
                <a:effectLst/>
                <a:latin typeface="Helvetica Neue" panose="02000503000000020004" pitchFamily="2" charset="0"/>
              </a:rPr>
            </a:br>
            <a:endParaRPr lang="en-GB" dirty="0">
              <a:effectLst/>
              <a:latin typeface="Helvetica Neue" panose="02000503000000020004" pitchFamily="2" charset="0"/>
            </a:endParaRP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19331237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425C18-E0AC-86CD-B74F-9CA3F4BF1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513" y="124012"/>
            <a:ext cx="8520600" cy="572700"/>
          </a:xfrm>
        </p:spPr>
        <p:txBody>
          <a:bodyPr>
            <a:normAutofit fontScale="90000"/>
          </a:bodyPr>
          <a:lstStyle/>
          <a:p>
            <a:r>
              <a:rPr lang="en-NL" dirty="0"/>
              <a:t>Roadmap</a:t>
            </a:r>
            <a:br>
              <a:rPr lang="en-NL" dirty="0"/>
            </a:br>
            <a:endParaRPr lang="en-NL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B98CD5-3AD4-6B94-9B44-9D20D51B71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8157800"/>
              </p:ext>
            </p:extLst>
          </p:nvPr>
        </p:nvGraphicFramePr>
        <p:xfrm>
          <a:off x="175512" y="617571"/>
          <a:ext cx="8520600" cy="401842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642450">
                  <a:extLst>
                    <a:ext uri="{9D8B030D-6E8A-4147-A177-3AD203B41FA5}">
                      <a16:colId xmlns:a16="http://schemas.microsoft.com/office/drawing/2014/main" val="2093875549"/>
                    </a:ext>
                  </a:extLst>
                </a:gridCol>
                <a:gridCol w="1617850">
                  <a:extLst>
                    <a:ext uri="{9D8B030D-6E8A-4147-A177-3AD203B41FA5}">
                      <a16:colId xmlns:a16="http://schemas.microsoft.com/office/drawing/2014/main" val="3265117656"/>
                    </a:ext>
                  </a:extLst>
                </a:gridCol>
                <a:gridCol w="2413562">
                  <a:extLst>
                    <a:ext uri="{9D8B030D-6E8A-4147-A177-3AD203B41FA5}">
                      <a16:colId xmlns:a16="http://schemas.microsoft.com/office/drawing/2014/main" val="3880780543"/>
                    </a:ext>
                  </a:extLst>
                </a:gridCol>
                <a:gridCol w="1846738">
                  <a:extLst>
                    <a:ext uri="{9D8B030D-6E8A-4147-A177-3AD203B41FA5}">
                      <a16:colId xmlns:a16="http://schemas.microsoft.com/office/drawing/2014/main" val="3785388644"/>
                    </a:ext>
                  </a:extLst>
                </a:gridCol>
              </a:tblGrid>
              <a:tr h="296829"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Goal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When?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Who?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1200" dirty="0"/>
                        <a:t>Comments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9598080"/>
                  </a:ext>
                </a:extLst>
              </a:tr>
              <a:tr h="276045">
                <a:tc>
                  <a:txBody>
                    <a:bodyPr/>
                    <a:lstStyle/>
                    <a:p>
                      <a:pPr algn="ctr"/>
                      <a:r>
                        <a:rPr lang="en-NL" sz="800" dirty="0"/>
                        <a:t>Update Schema with</a:t>
                      </a:r>
                    </a:p>
                    <a:p>
                      <a:pPr algn="ctr"/>
                      <a:r>
                        <a:rPr lang="en-GB" sz="800" dirty="0"/>
                        <a:t>M</a:t>
                      </a:r>
                      <a:r>
                        <a:rPr lang="en-NL" sz="800" dirty="0"/>
                        <a:t>issing fields (that we’re aware of)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800" dirty="0"/>
                        <a:t>Ben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490155"/>
                  </a:ext>
                </a:extLst>
              </a:tr>
              <a:tr h="274032">
                <a:tc>
                  <a:txBody>
                    <a:bodyPr/>
                    <a:lstStyle/>
                    <a:p>
                      <a:pPr algn="ctr"/>
                      <a:r>
                        <a:rPr lang="en-NL" sz="800" dirty="0"/>
                        <a:t>PLString Examples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988175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NL" sz="800" dirty="0"/>
                        <a:t>PLString Communication/Paper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800" dirty="0"/>
                        <a:t>Eric? Ben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1711914"/>
                  </a:ext>
                </a:extLst>
              </a:tr>
              <a:tr h="287835">
                <a:tc>
                  <a:txBody>
                    <a:bodyPr/>
                    <a:lstStyle/>
                    <a:p>
                      <a:pPr algn="ctr"/>
                      <a:r>
                        <a:rPr lang="en-NL" sz="800" dirty="0"/>
                        <a:t>Align with FHIR concepts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800" dirty="0"/>
                        <a:t>DASH 16: January 22-24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94409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NL" sz="800" dirty="0"/>
                        <a:t>Apply HAML in UseCases / Datasets, Develop Tools and Validators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800" dirty="0"/>
                        <a:t>Martin?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530826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NL" sz="800" dirty="0"/>
                        <a:t>Reconvert IHIW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7333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800" dirty="0"/>
                        <a:t>Vet with Users and manufacturers</a:t>
                      </a:r>
                    </a:p>
                    <a:p>
                      <a:pPr algn="ctr"/>
                      <a:endParaRPr lang="en-NL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5188711"/>
                  </a:ext>
                </a:extLst>
              </a:tr>
              <a:tr h="261443">
                <a:tc>
                  <a:txBody>
                    <a:bodyPr/>
                    <a:lstStyle/>
                    <a:p>
                      <a:pPr algn="ctr"/>
                      <a:r>
                        <a:rPr lang="en-NL" sz="800" dirty="0"/>
                        <a:t>Version 1.0 Spec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800" dirty="0"/>
                        <a:t>Ben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0732479"/>
                  </a:ext>
                </a:extLst>
              </a:tr>
              <a:tr h="300136">
                <a:tc>
                  <a:txBody>
                    <a:bodyPr/>
                    <a:lstStyle/>
                    <a:p>
                      <a:pPr algn="ctr"/>
                      <a:r>
                        <a:rPr lang="en-NL" sz="800" dirty="0"/>
                        <a:t>Version 1.0 Manuscript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NL" sz="800" dirty="0"/>
                        <a:t>Ben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108227"/>
                  </a:ext>
                </a:extLst>
              </a:tr>
              <a:tr h="230038">
                <a:tc>
                  <a:txBody>
                    <a:bodyPr/>
                    <a:lstStyle/>
                    <a:p>
                      <a:pPr algn="ctr"/>
                      <a:endParaRPr lang="en-NL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8251505"/>
                  </a:ext>
                </a:extLst>
              </a:tr>
              <a:tr h="300136">
                <a:tc>
                  <a:txBody>
                    <a:bodyPr/>
                    <a:lstStyle/>
                    <a:p>
                      <a:pPr algn="ctr"/>
                      <a:r>
                        <a:rPr lang="en-NL" sz="800" dirty="0"/>
                        <a:t>FHIR Implementation Guide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5856734"/>
                  </a:ext>
                </a:extLst>
              </a:tr>
              <a:tr h="300136">
                <a:tc>
                  <a:txBody>
                    <a:bodyPr/>
                    <a:lstStyle/>
                    <a:p>
                      <a:pPr marL="1651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None/>
                      </a:pPr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Other Assays besides Single Antigen Bead</a:t>
                      </a:r>
                      <a:r>
                        <a:rPr lang="en-GB" sz="800" dirty="0">
                          <a:solidFill>
                            <a:schemeClr val="tx1"/>
                          </a:solidFill>
                          <a:sym typeface="Wingdings" pitchFamily="2" charset="2"/>
                        </a:rPr>
                        <a:t>( C</a:t>
                      </a:r>
                      <a:r>
                        <a:rPr lang="en-GB" sz="800" dirty="0">
                          <a:solidFill>
                            <a:schemeClr val="tx1"/>
                          </a:solidFill>
                        </a:rPr>
                        <a:t>DC Panel, Flow-Panel)</a:t>
                      </a:r>
                      <a:endParaRPr lang="en-NL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9405340"/>
                  </a:ext>
                </a:extLst>
              </a:tr>
              <a:tr h="300136">
                <a:tc>
                  <a:txBody>
                    <a:bodyPr/>
                    <a:lstStyle/>
                    <a:p>
                      <a:pPr marL="1651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1000"/>
                        <a:buNone/>
                      </a:pPr>
                      <a:r>
                        <a:rPr lang="en-NL" sz="800" dirty="0"/>
                        <a:t>MIRING-like quality checklist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NL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0915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7351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7B8BF3-C17B-89DA-4F28-39D9DEF93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L" dirty="0"/>
              <a:t>Next workgroup meeting(s)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0F7D16-9295-C196-6D31-66B6B93AE8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L" dirty="0"/>
              <a:t>One more in mid-January or No?</a:t>
            </a:r>
            <a:br>
              <a:rPr lang="en-NL" dirty="0"/>
            </a:br>
            <a:endParaRPr lang="en-NL" dirty="0"/>
          </a:p>
          <a:p>
            <a:r>
              <a:rPr lang="en-NL" dirty="0"/>
              <a:t>DASH 16 (January 22-24)</a:t>
            </a:r>
          </a:p>
          <a:p>
            <a:pPr lvl="1"/>
            <a:r>
              <a:rPr lang="en-NL" dirty="0"/>
              <a:t>Ben = Remote / Online</a:t>
            </a:r>
          </a:p>
        </p:txBody>
      </p:sp>
    </p:spTree>
    <p:extLst>
      <p:ext uri="{BB962C8B-B14F-4D97-AF65-F5344CB8AC3E}">
        <p14:creationId xmlns:p14="http://schemas.microsoft.com/office/powerpoint/2010/main" val="295010690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1470</TotalTime>
  <Words>1047</Words>
  <Application>Microsoft Macintosh PowerPoint</Application>
  <PresentationFormat>On-screen Show (16:9)</PresentationFormat>
  <Paragraphs>136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Helvetica Neue</vt:lpstr>
      <vt:lpstr>Wingdings</vt:lpstr>
      <vt:lpstr>Simple Light</vt:lpstr>
      <vt:lpstr>HAML Working Group</vt:lpstr>
      <vt:lpstr>Current HAML Spec (v 0.4.2) </vt:lpstr>
      <vt:lpstr>PowerPoint Presentation</vt:lpstr>
      <vt:lpstr>What is still Missing from v0_4_1? </vt:lpstr>
      <vt:lpstr>Goals from 2024.11.18 meeting:  </vt:lpstr>
      <vt:lpstr>Meeting minutes/notes 2024.11.18</vt:lpstr>
      <vt:lpstr>What has changed since last meeting</vt:lpstr>
      <vt:lpstr>Roadmap </vt:lpstr>
      <vt:lpstr>Next workgroup meeting(s)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Matern, B.M. (Ben)</cp:lastModifiedBy>
  <cp:revision>21</cp:revision>
  <dcterms:modified xsi:type="dcterms:W3CDTF">2024-12-12T15:48:47Z</dcterms:modified>
</cp:coreProperties>
</file>