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0" r:id="rId4"/>
    <p:sldId id="272" r:id="rId5"/>
    <p:sldId id="271" r:id="rId6"/>
    <p:sldId id="273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8"/>
    <p:restoredTop sz="94715"/>
  </p:normalViewPr>
  <p:slideViewPr>
    <p:cSldViewPr snapToGrid="0">
      <p:cViewPr varScale="1">
        <p:scale>
          <a:sx n="158" d="100"/>
          <a:sy n="158" d="100"/>
        </p:scale>
        <p:origin x="10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b07752e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b07752e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5b602df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5b602df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matern/ha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org/fhir/datatypes.html#Identifie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DASH16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2025-01-22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59300" y="51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Current HAML Spec (v 0.4.3)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59299" y="624575"/>
            <a:ext cx="4546931" cy="1015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hlinkClick r:id="rId3"/>
              </a:rPr>
              <a:t>https://github.com/bmatern/haml</a:t>
            </a:r>
            <a:r>
              <a:rPr lang="en-GB" dirty="0"/>
              <a:t>  </a:t>
            </a:r>
            <a:r>
              <a:rPr lang="en-GB" dirty="0">
                <a:highlight>
                  <a:srgbClr val="FFFF00"/>
                </a:highlight>
              </a:rPr>
              <a:t>(Latest)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9927C-4434-E66F-17D6-F387C68DF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500" y="1021170"/>
            <a:ext cx="5560834" cy="4070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14663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 from 2024.11.18 meeting: 	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27479" y="58699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/>
              <a:t>Define scope (add cell assays?)</a:t>
            </a:r>
          </a:p>
          <a:p>
            <a:endParaRPr lang="en" sz="1000" dirty="0"/>
          </a:p>
          <a:p>
            <a:r>
              <a:rPr lang="en" sz="1000" dirty="0" err="1"/>
              <a:t>PLString</a:t>
            </a:r>
            <a:r>
              <a:rPr lang="en" sz="1000" dirty="0"/>
              <a:t> – examples and detailed description (check </a:t>
            </a:r>
            <a:r>
              <a:rPr lang="en" sz="1000" dirty="0" err="1"/>
              <a:t>GLString</a:t>
            </a:r>
            <a:r>
              <a:rPr lang="en" sz="1000" dirty="0"/>
              <a:t> for inspiration)</a:t>
            </a:r>
            <a:endParaRPr sz="1000" dirty="0"/>
          </a:p>
          <a:p>
            <a:pPr lvl="1"/>
            <a:endParaRPr lang="en" sz="1000" dirty="0"/>
          </a:p>
          <a:p>
            <a:pPr marL="311150" indent="-171450"/>
            <a:r>
              <a:rPr lang="en" sz="1000" dirty="0"/>
              <a:t>    Write a implementation guide / healthcare guideline through FHIR</a:t>
            </a:r>
            <a:endParaRPr sz="1000" dirty="0"/>
          </a:p>
          <a:p>
            <a:pPr lvl="1"/>
            <a:r>
              <a:rPr lang="en" sz="1000" dirty="0"/>
              <a:t>Dig up Bob Milius’ work and define path to FHIR (David Wroe?)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Real-world use-cases. (IHIW is biggest example so far)</a:t>
            </a:r>
          </a:p>
          <a:p>
            <a:pPr lvl="1"/>
            <a:r>
              <a:rPr lang="en" sz="1000" dirty="0"/>
              <a:t>Do you want to  use this spec in one of your routines or research projects?</a:t>
            </a:r>
          </a:p>
          <a:p>
            <a:pPr lvl="1"/>
            <a:r>
              <a:rPr lang="en" sz="1000" dirty="0"/>
              <a:t>What TOOLS are needed for public adoption?</a:t>
            </a:r>
          </a:p>
          <a:p>
            <a:pPr lvl="2"/>
            <a:r>
              <a:rPr lang="en" sz="1000" dirty="0"/>
              <a:t>Converters &amp; Validators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Manuscripts</a:t>
            </a:r>
          </a:p>
          <a:p>
            <a:pPr lvl="1"/>
            <a:r>
              <a:rPr lang="en" sz="1000" dirty="0" err="1"/>
              <a:t>PLString</a:t>
            </a:r>
            <a:r>
              <a:rPr lang="en" sz="1000" dirty="0"/>
              <a:t> communication: Eric S.- nomenclature, minimal character sets ~+{}</a:t>
            </a:r>
          </a:p>
          <a:p>
            <a:pPr lvl="1"/>
            <a:r>
              <a:rPr lang="en" sz="1000" dirty="0"/>
              <a:t>Eventually - publish 1.0 spec with manuscript</a:t>
            </a:r>
          </a:p>
          <a:p>
            <a:pPr lvl="1"/>
            <a:r>
              <a:rPr lang="en" sz="1000" dirty="0"/>
              <a:t>MIRING (quality checklists)</a:t>
            </a:r>
            <a:br>
              <a:rPr lang="en" sz="1000" dirty="0"/>
            </a:br>
            <a:endParaRPr lang="en" sz="1000" dirty="0"/>
          </a:p>
          <a:p>
            <a:r>
              <a:rPr lang="en-GB" sz="1000" dirty="0"/>
              <a:t>Long term: Hackathon with antibody analysis vendors to tell them what to do and how to do it</a:t>
            </a:r>
            <a:endParaRPr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3A42-6A89-F96D-3841-CD18F1DA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What has changed since last meeting (v0_4_3)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6D0E5-D28A-D686-15DD-50E72DF6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Re-shuffled the &lt;bead&gt; structure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(&lt;raw-data&gt;, &lt;converted-data&gt;, &lt;bead-info&gt; live under each bead)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Question: “positive-control-serum-raw-MFI is “raw-data” or “converted-data”?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&lt;Sample-date&gt; and &lt;assay-date&gt;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Either “date” or “datetime”</a:t>
            </a:r>
            <a:r>
              <a:rPr lang="en-GB" dirty="0">
                <a:latin typeface="Helvetica Neue" panose="02000503000000020004" pitchFamily="2" charset="0"/>
              </a:rPr>
              <a:t> are acceptable.</a:t>
            </a:r>
            <a:br>
              <a:rPr lang="en-GB" dirty="0">
                <a:latin typeface="Helvetica Neue" panose="02000503000000020004" pitchFamily="2" charset="0"/>
              </a:rPr>
            </a:br>
            <a:endParaRPr lang="en-GB" dirty="0"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&lt;document-context&gt;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Freeform field describing the purpose of this </a:t>
            </a:r>
            <a:r>
              <a:rPr lang="en-GB" dirty="0" err="1">
                <a:latin typeface="Helvetica Neue" panose="02000503000000020004" pitchFamily="2" charset="0"/>
              </a:rPr>
              <a:t>haml</a:t>
            </a:r>
            <a:r>
              <a:rPr lang="en-GB" dirty="0">
                <a:latin typeface="Helvetica Neue" panose="02000503000000020004" pitchFamily="2" charset="0"/>
              </a:rPr>
              <a:t> document (SOT, Platelets, etc..?)</a:t>
            </a:r>
            <a:br>
              <a:rPr lang="en-GB" dirty="0">
                <a:latin typeface="Helvetica Neue" panose="02000503000000020004" pitchFamily="2" charset="0"/>
              </a:rPr>
            </a:br>
            <a:endParaRPr lang="en-GB" dirty="0"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&lt;classification-entity&gt;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Multiple humans or machines can interpret a </a:t>
            </a:r>
            <a:r>
              <a:rPr lang="en-GB">
                <a:latin typeface="Helvetica Neue" panose="02000503000000020004" pitchFamily="2" charset="0"/>
              </a:rPr>
              <a:t>bead result.</a:t>
            </a:r>
            <a:br>
              <a:rPr lang="en-GB" dirty="0">
                <a:latin typeface="Helvetica Neue" panose="02000503000000020004" pitchFamily="2" charset="0"/>
              </a:rPr>
            </a:br>
            <a:endParaRPr lang="en-GB" dirty="0"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&lt;positive/negative-serum-id&gt;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CSV files contained ids pointing to the </a:t>
            </a:r>
            <a:r>
              <a:rPr lang="en-GB" dirty="0" err="1">
                <a:latin typeface="Helvetica Neue" panose="02000503000000020004" pitchFamily="2" charset="0"/>
              </a:rPr>
              <a:t>pos</a:t>
            </a:r>
            <a:r>
              <a:rPr lang="en-GB" dirty="0">
                <a:latin typeface="Helvetica Neue" panose="02000503000000020004" pitchFamily="2" charset="0"/>
              </a:rPr>
              <a:t>/neg control serum. This can be included in HAML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Filling in Documentation and Cardinality things.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3312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5C18-E0AC-86CD-B74F-9CA3F4BF1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3" y="12401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NL" dirty="0"/>
              <a:t>Roadmap</a:t>
            </a:r>
            <a:br>
              <a:rPr lang="en-NL" dirty="0"/>
            </a:br>
            <a:endParaRPr lang="en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B98CD5-3AD4-6B94-9B44-9D20D51B7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656449"/>
              </p:ext>
            </p:extLst>
          </p:nvPr>
        </p:nvGraphicFramePr>
        <p:xfrm>
          <a:off x="175512" y="617571"/>
          <a:ext cx="8520600" cy="43097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42450">
                  <a:extLst>
                    <a:ext uri="{9D8B030D-6E8A-4147-A177-3AD203B41FA5}">
                      <a16:colId xmlns:a16="http://schemas.microsoft.com/office/drawing/2014/main" val="2093875549"/>
                    </a:ext>
                  </a:extLst>
                </a:gridCol>
                <a:gridCol w="1617850">
                  <a:extLst>
                    <a:ext uri="{9D8B030D-6E8A-4147-A177-3AD203B41FA5}">
                      <a16:colId xmlns:a16="http://schemas.microsoft.com/office/drawing/2014/main" val="3265117656"/>
                    </a:ext>
                  </a:extLst>
                </a:gridCol>
                <a:gridCol w="1326286">
                  <a:extLst>
                    <a:ext uri="{9D8B030D-6E8A-4147-A177-3AD203B41FA5}">
                      <a16:colId xmlns:a16="http://schemas.microsoft.com/office/drawing/2014/main" val="3880780543"/>
                    </a:ext>
                  </a:extLst>
                </a:gridCol>
                <a:gridCol w="2934014">
                  <a:extLst>
                    <a:ext uri="{9D8B030D-6E8A-4147-A177-3AD203B41FA5}">
                      <a16:colId xmlns:a16="http://schemas.microsoft.com/office/drawing/2014/main" val="3785388644"/>
                    </a:ext>
                  </a:extLst>
                </a:gridCol>
              </a:tblGrid>
              <a:tr h="296829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Who?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598080"/>
                  </a:ext>
                </a:extLst>
              </a:tr>
              <a:tr h="276045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Update Schema with</a:t>
                      </a:r>
                    </a:p>
                    <a:p>
                      <a:pPr algn="ctr"/>
                      <a:r>
                        <a:rPr lang="en-GB" sz="800" dirty="0"/>
                        <a:t>M</a:t>
                      </a:r>
                      <a:r>
                        <a:rPr lang="en-NL" sz="800" dirty="0"/>
                        <a:t>issing fields (that we’re aware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Before DASH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490155"/>
                  </a:ext>
                </a:extLst>
              </a:tr>
              <a:tr h="274032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PLString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January – pre DASH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L" sz="800" dirty="0"/>
                        <a:t>Eric &amp; 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817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L" sz="800" dirty="0"/>
                        <a:t>PLString Communication/Paper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January – pre DASH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Eric &amp; 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711914"/>
                  </a:ext>
                </a:extLst>
              </a:tr>
              <a:tr h="287835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Align with FHIR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DASH 16: January 22-24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David Wroe?</a:t>
                      </a:r>
                    </a:p>
                    <a:p>
                      <a:pPr algn="ctr"/>
                      <a:r>
                        <a:rPr lang="en-NL" sz="800" dirty="0"/>
                        <a:t>Ben send him a msg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440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Apply HAML in UseCases / Datasets, Develop Tools and Validators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Proof of Concept Before EFI Prague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Martin?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NL" sz="800" dirty="0"/>
                        <a:t>Eurotransplant – Come up with a use case for this (SOT)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NL" sz="800" dirty="0"/>
                        <a:t>NMDP – Examle for a SCT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NL" sz="800" dirty="0"/>
                        <a:t>Penn – AB data for SRTR outcomes, Tx that meet acceptable mismatches, DSA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30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Reconvert IHIW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Q3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3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/>
                        <a:t>Vet with Users and Manufacturers / Vendors</a:t>
                      </a:r>
                    </a:p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Prague EFI May 12</a:t>
                      </a:r>
                    </a:p>
                    <a:p>
                      <a:pPr algn="ctr"/>
                      <a:r>
                        <a:rPr lang="en-NL" sz="800" dirty="0"/>
                        <a:t>DASH 17 Prague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88711"/>
                  </a:ext>
                </a:extLst>
              </a:tr>
              <a:tr h="261443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Version 1.0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32479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Version 1.0 Manuscript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08227"/>
                  </a:ext>
                </a:extLst>
              </a:tr>
              <a:tr h="230038"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51505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FHIR Implementation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David Wroe?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856734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marL="1651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None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Other Assays besides Single Antigen Bead</a:t>
                      </a:r>
                      <a:r>
                        <a:rPr lang="en-GB" sz="800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( C</a:t>
                      </a: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DC Panel, Flow-Panel)</a:t>
                      </a:r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05340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marL="1651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None/>
                      </a:pPr>
                      <a:r>
                        <a:rPr lang="en-NL" sz="800" dirty="0"/>
                        <a:t>MIRING-like quality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091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35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A01E-C922-7908-08F5-39A9B5B4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DASH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F0FDC-8C94-B496-1DB7-3FB83865D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NL" sz="1900" dirty="0">
                <a:solidFill>
                  <a:schemeClr val="tx1"/>
                </a:solidFill>
              </a:rPr>
              <a:t>Fill in documentation for each element and describe the contents of each field.</a:t>
            </a:r>
          </a:p>
          <a:p>
            <a:r>
              <a:rPr lang="en-NL" sz="1900" dirty="0">
                <a:solidFill>
                  <a:schemeClr val="tx1"/>
                </a:solidFill>
              </a:rPr>
              <a:t>Fix cardinality of elements</a:t>
            </a:r>
          </a:p>
          <a:p>
            <a:r>
              <a:rPr lang="en-NL" sz="1900" dirty="0">
                <a:solidFill>
                  <a:schemeClr val="tx1"/>
                </a:solidFill>
                <a:highlight>
                  <a:srgbClr val="FFFF00"/>
                </a:highlight>
              </a:rPr>
              <a:t>Create sample files to identify gaps and issues.</a:t>
            </a:r>
          </a:p>
          <a:p>
            <a:r>
              <a:rPr lang="en-NL" sz="1900" dirty="0">
                <a:solidFill>
                  <a:schemeClr val="tx1"/>
                </a:solidFill>
              </a:rPr>
              <a:t>Identify missing elements </a:t>
            </a:r>
          </a:p>
          <a:p>
            <a:pPr lvl="1"/>
            <a:r>
              <a:rPr lang="en-NL" sz="1900" dirty="0">
                <a:solidFill>
                  <a:schemeClr val="tx1"/>
                </a:solidFill>
              </a:rPr>
              <a:t>from previous HAML revisions</a:t>
            </a:r>
          </a:p>
          <a:p>
            <a:pPr lvl="1"/>
            <a:r>
              <a:rPr lang="en-NL" sz="1900" dirty="0">
                <a:solidFill>
                  <a:schemeClr val="tx1"/>
                </a:solidFill>
              </a:rPr>
              <a:t>From Antibody CSV files and maybe IHIW needs?</a:t>
            </a:r>
          </a:p>
          <a:p>
            <a:r>
              <a:rPr lang="en-NL" sz="1900" dirty="0">
                <a:solidFill>
                  <a:schemeClr val="tx1"/>
                </a:solidFill>
              </a:rPr>
              <a:t>FHIR experts? Look for issues.</a:t>
            </a:r>
          </a:p>
          <a:p>
            <a:pPr lvl="1" indent="-292100">
              <a:buSzPts val="1000"/>
              <a:buChar char="●"/>
            </a:pPr>
            <a:r>
              <a:rPr lang="en" sz="1900" dirty="0">
                <a:solidFill>
                  <a:schemeClr val="tx1"/>
                </a:solidFill>
              </a:rPr>
              <a:t>For </a:t>
            </a:r>
            <a:r>
              <a:rPr lang="en" sz="1900" dirty="0" err="1">
                <a:solidFill>
                  <a:schemeClr val="tx1"/>
                </a:solidFill>
              </a:rPr>
              <a:t>SampleID</a:t>
            </a:r>
            <a:r>
              <a:rPr lang="en" sz="1900" dirty="0">
                <a:solidFill>
                  <a:schemeClr val="tx1"/>
                </a:solidFill>
              </a:rPr>
              <a:t> and </a:t>
            </a:r>
            <a:r>
              <a:rPr lang="en" sz="1900" dirty="0" err="1">
                <a:solidFill>
                  <a:schemeClr val="tx1"/>
                </a:solidFill>
              </a:rPr>
              <a:t>TestID</a:t>
            </a:r>
            <a:r>
              <a:rPr lang="en" sz="1900" dirty="0">
                <a:solidFill>
                  <a:schemeClr val="tx1"/>
                </a:solidFill>
              </a:rPr>
              <a:t> - what is the namespace of who assigned the sample IDs</a:t>
            </a:r>
            <a:br>
              <a:rPr lang="en" sz="1900" dirty="0">
                <a:solidFill>
                  <a:schemeClr val="tx1"/>
                </a:solidFill>
              </a:rPr>
            </a:br>
            <a:r>
              <a:rPr lang="en" sz="1900" u="sng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https://hl7.org/fhir/datatypes.html#Identifier</a:t>
            </a:r>
            <a:endParaRPr lang="en" sz="1900" u="sng" dirty="0">
              <a:solidFill>
                <a:schemeClr val="tx1"/>
              </a:solidFill>
            </a:endParaRPr>
          </a:p>
          <a:p>
            <a:pPr lvl="2" indent="-292100">
              <a:buSzPts val="1000"/>
              <a:buChar char="●"/>
            </a:pPr>
            <a:r>
              <a:rPr lang="en" sz="1900" dirty="0">
                <a:solidFill>
                  <a:schemeClr val="tx1"/>
                </a:solidFill>
              </a:rPr>
              <a:t>Define a nested definition for IDs. The parent IDs can “inherit” the generic ID definition ( inspired by FHIR)</a:t>
            </a:r>
          </a:p>
          <a:p>
            <a:pPr lvl="2" indent="-292100">
              <a:buSzPts val="1000"/>
              <a:buChar char="●"/>
            </a:pPr>
            <a:endParaRPr lang="en" sz="19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900" dirty="0">
                <a:solidFill>
                  <a:schemeClr val="tx1"/>
                </a:solidFill>
              </a:rPr>
              <a:t>Can we flag a specificity/bead as “self” or “nonself”</a:t>
            </a: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GB" sz="1900" dirty="0">
                <a:solidFill>
                  <a:schemeClr val="tx1"/>
                </a:solidFill>
              </a:rPr>
              <a:t>Annotation field / Exclusion mark</a:t>
            </a:r>
          </a:p>
          <a:p>
            <a:pPr marL="165100" indent="0">
              <a:buSzPts val="1000"/>
              <a:buNone/>
            </a:pPr>
            <a:endParaRPr lang="en-NL" sz="1900" dirty="0">
              <a:solidFill>
                <a:schemeClr val="tx1"/>
              </a:solidFill>
            </a:endParaRPr>
          </a:p>
          <a:p>
            <a:r>
              <a:rPr lang="en-NL" sz="1900" dirty="0">
                <a:solidFill>
                  <a:schemeClr val="tx1"/>
                </a:solidFill>
              </a:rPr>
              <a:t>I propose: Skip cell assays for now, scope is big enough with SAB panels</a:t>
            </a:r>
          </a:p>
          <a:p>
            <a:pPr lvl="1" indent="-292100">
              <a:buSzPts val="1000"/>
              <a:buChar char="●"/>
            </a:pPr>
            <a:r>
              <a:rPr lang="en-GB" sz="1900" dirty="0">
                <a:solidFill>
                  <a:schemeClr val="tx1"/>
                </a:solidFill>
              </a:rPr>
              <a:t>CDC Panel (Cells)</a:t>
            </a:r>
          </a:p>
          <a:p>
            <a:pPr lvl="1" indent="-292100">
              <a:buSzPts val="1000"/>
              <a:buChar char="●"/>
            </a:pPr>
            <a:r>
              <a:rPr lang="en-GB" sz="1900" dirty="0">
                <a:solidFill>
                  <a:schemeClr val="tx1"/>
                </a:solidFill>
              </a:rPr>
              <a:t>Flow-Panel</a:t>
            </a:r>
            <a:br>
              <a:rPr lang="en-GB" sz="1900" dirty="0">
                <a:solidFill>
                  <a:schemeClr val="tx1"/>
                </a:solidFill>
              </a:rPr>
            </a:br>
            <a:endParaRPr lang="en-GB" sz="1900" dirty="0">
              <a:solidFill>
                <a:schemeClr val="tx1"/>
              </a:solidFill>
            </a:endParaRPr>
          </a:p>
          <a:p>
            <a:pPr indent="-292100">
              <a:buSzPts val="1000"/>
            </a:pPr>
            <a:r>
              <a:rPr lang="en-GB" sz="1900" dirty="0" err="1">
                <a:solidFill>
                  <a:schemeClr val="tx1"/>
                </a:solidFill>
              </a:rPr>
              <a:t>PLString</a:t>
            </a:r>
            <a:r>
              <a:rPr lang="en-GB" sz="1900" dirty="0">
                <a:solidFill>
                  <a:schemeClr val="tx1"/>
                </a:solidFill>
              </a:rPr>
              <a:t> (Eric </a:t>
            </a:r>
            <a:r>
              <a:rPr lang="en-GB" sz="1900" dirty="0" err="1">
                <a:solidFill>
                  <a:schemeClr val="tx1"/>
                </a:solidFill>
              </a:rPr>
              <a:t>Spierings</a:t>
            </a:r>
            <a:r>
              <a:rPr lang="en-GB" sz="1900" dirty="0">
                <a:solidFill>
                  <a:schemeClr val="tx1"/>
                </a:solidFill>
              </a:rPr>
              <a:t>?)</a:t>
            </a:r>
          </a:p>
          <a:p>
            <a:pPr lvl="1" indent="-292100">
              <a:buSzPts val="1000"/>
            </a:pPr>
            <a:r>
              <a:rPr lang="en-GB" sz="1900" dirty="0">
                <a:solidFill>
                  <a:schemeClr val="tx1"/>
                </a:solidFill>
              </a:rPr>
              <a:t>DQB1*05:01~{PEPTIDE}~DQA1*01:01</a:t>
            </a:r>
          </a:p>
          <a:p>
            <a:pPr lvl="1" indent="-292100">
              <a:buSzPts val="1000"/>
            </a:pPr>
            <a:r>
              <a:rPr lang="en-GB" sz="1900" dirty="0">
                <a:solidFill>
                  <a:schemeClr val="tx1"/>
                </a:solidFill>
              </a:rPr>
              <a:t>DQB1*05:01~DQA1*01:01</a:t>
            </a:r>
          </a:p>
          <a:p>
            <a:pPr lvl="1" indent="-292100">
              <a:buSzPts val="1000"/>
            </a:pPr>
            <a:r>
              <a:rPr lang="en-GB" sz="1900" dirty="0">
                <a:solidFill>
                  <a:schemeClr val="tx1"/>
                </a:solidFill>
              </a:rPr>
              <a:t>A*01:01~{PEP}</a:t>
            </a:r>
          </a:p>
          <a:p>
            <a:pPr indent="-292100">
              <a:buSzPts val="1000"/>
            </a:pPr>
            <a:endParaRPr lang="en-GB" sz="1900" dirty="0">
              <a:solidFill>
                <a:schemeClr val="tx1"/>
              </a:solidFill>
            </a:endParaRP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604735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3941</TotalTime>
  <Words>612</Words>
  <Application>Microsoft Macintosh PowerPoint</Application>
  <PresentationFormat>On-screen Show (16:9)</PresentationFormat>
  <Paragraphs>93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Helvetica Neue</vt:lpstr>
      <vt:lpstr>Wingdings</vt:lpstr>
      <vt:lpstr>Simple Light</vt:lpstr>
      <vt:lpstr>DASH16</vt:lpstr>
      <vt:lpstr>Current HAML Spec (v 0.4.3) </vt:lpstr>
      <vt:lpstr>Goals from 2024.11.18 meeting:  </vt:lpstr>
      <vt:lpstr>What has changed since last meeting (v0_4_3)</vt:lpstr>
      <vt:lpstr>Roadmap </vt:lpstr>
      <vt:lpstr>DASH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Matern, B.M. (Ben)</cp:lastModifiedBy>
  <cp:revision>31</cp:revision>
  <dcterms:modified xsi:type="dcterms:W3CDTF">2025-01-23T15:29:46Z</dcterms:modified>
</cp:coreProperties>
</file>